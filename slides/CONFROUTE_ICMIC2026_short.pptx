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Name, affiliation, one line: this is a paper about when an edge AI system on a ship should refuse to make a decision. 20 s, do not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facts, fast: the compute is already on the vessel, and the link that would let it ask for help is not guaranteed. Offloading is not an escape hatch.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haze. Then land the inversion: latency-optimal is not safety-optimal, which is what separates this from ordinary MEC work. Say it plainly and pause. ~35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 the paper answers, and the assumption the field is built on. Do not defend the assumption, you are about to break it.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slide. Top row: all three correct, and confidence is only 0.51 to 0.67, honestly unsure. Bottom row: same three vessels, NO SHIP at 0.96, 0.88, 0.91. "It did not become uncertain. It became more certain, and wrong." Pause. ~1:10.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population-level version of the previous slide. The lines cross. That crossing is the paper. Those three chips are 3 of 53 that behave this way. ~50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Errors only, plotted against the fallback threshold. The gate is blind precisely in the regime that threatens the vessel. This is the hinge into the method.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three branches with the pointer. Post-scoring, pre-actuation, so it drops into an existing stack.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when confident and the queue allows. Offload when the link is good and the queue is loaded. Fallback when uncertain AND cut off. Land the guardrail line: the threshold controller is inspectable and certifiable.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Kills the objection that fallback means crash or do nothing. Read the collision-avoidance row aloud, then move on. ~35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Requiring both conditions is what stops the router hiding behind fallback.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ShipsNet, ResNet-18, three link regimes, four baselines. Say the unsafe-rate definition out loud: routing-layer risk, not physical incidents. ~35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convergence is the story, not our line. Stable links flatter everything that offloads; degraded links expose the dependency. Then point at 4.8%. ~55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Normally safety costs latency. Not here, because attempting an offload that fails wastes time AND leaves the task unhandled. ~50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 honesty, and it buys credibility. Load-only is safer here because offloading still works and removes local-error risk. Say why, then land the closing line.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Removing fallback hurts more than removing link awareness: having somewhere to put an undecidable task is the bigger effect. Then the chart: offload collapses 89% to 11% as the link degrades, and fallback stays a bounded minority.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down. Let it sit before speaking. This is what you want the room to remember.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limitations without apologising, then the forward path with calibration first. ~40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headers only, then stop and invite questions. Do not add a new thought here. ~50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you, and take questions. The full 31-slide deck has the backup material: full results table, confidence traces, per-image credits.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3"/>
          <a:srcRect t="9640" b="964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12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EC5F4"/>
                </a:solidFill>
                <a:latin typeface="Segoe UI"/>
              </a:rPr>
              <a:t>ICMIC 2026  ·  NTUST, Taipei  ·  19–21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7495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Segoe UI"/>
              </a:rPr>
              <a:t>CONFROUTE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8534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0">
                <a:solidFill>
                  <a:srgbClr val="CDE2FB"/>
                </a:solidFill>
                <a:latin typeface="Segoe UI"/>
              </a:rPr>
              <a:t>Confidence-Aware Routing for Resilient Maritime Edge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069080"/>
            <a:ext cx="1463040" cy="635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52628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Anthony Uchenna Eneh</a:t>
            </a:r>
            <a:r>
              <a:rPr sz="1900" b="0">
                <a:solidFill>
                  <a:srgbClr val="D8E4F2"/>
                </a:solidFill>
                <a:latin typeface="Segoe UI"/>
              </a:rPr>
              <a:t>   ·   Love Allen Chijioke Ahakonye   ·   Jae Min Lee   ·   Dong-Seong Kim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16636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9EC5F4"/>
                </a:solidFill>
                <a:latin typeface="Segoe UI"/>
              </a:rPr>
              <a:t>Kumoh National Institute of Technology, Gumi, South Korea   ·   NSLab Co.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nsor.jpg"/>
          <p:cNvPicPr>
            <a:picLocks noChangeAspect="1"/>
          </p:cNvPicPr>
          <p:nvPr/>
        </p:nvPicPr>
        <p:blipFill>
          <a:blip r:embed="rId3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5142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160520"/>
            <a:ext cx="108749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Ships now run AI on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9496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D8E4F2"/>
                </a:solidFill>
                <a:latin typeface="Segoe UI"/>
              </a:rPr>
              <a:t>Perception, monitoring, navigation support, on a satellite link that is intermittent by nature.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849624"/>
            <a:ext cx="1005840" cy="635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g.jpg"/>
          <p:cNvPicPr>
            <a:picLocks noChangeAspect="1"/>
          </p:cNvPicPr>
          <p:nvPr/>
        </p:nvPicPr>
        <p:blipFill>
          <a:blip r:embed="rId3"/>
          <a:srcRect t="16170" b="1617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24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108749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And the sea changes what the camera sees.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6908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D8E4F2"/>
                </a:solidFill>
                <a:latin typeface="Segoe UI"/>
              </a:rPr>
              <a:t>Sea state, haze, illumination, occlusion: the input drifts away from training, and at sea a wrong answer costs more than a slow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57984"/>
            <a:ext cx="1005840" cy="635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86000"/>
            <a:ext cx="9631375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104680"/>
                </a:solidFill>
                <a:latin typeface="Segoe UI"/>
              </a:rPr>
              <a:t>Act now, ask for help, or refuse to answer?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4206240"/>
            <a:ext cx="8351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2514E"/>
                </a:solidFill>
                <a:latin typeface="Segoe UI"/>
              </a:rPr>
              <a:t>Every task, on every node, under uncertainty. Confidence-threshold offloading assumes the model knows when it is unsure. We tested that.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It finds every ship, until you add haze.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Three held-out ShipsNet chips, 80 × 80 PlanetScope imagery, before and after the adverse transform.</a:t>
            </a:r>
          </a:p>
        </p:txBody>
      </p:sp>
      <p:pic>
        <p:nvPicPr>
          <p:cNvPr id="4" name="Picture 3" descr="fig_ch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274" y="1627632"/>
            <a:ext cx="4973147" cy="3995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Every chip still contains a ship. The model is now </a:t>
            </a:r>
            <a:r>
              <a:rPr sz="1500" b="1">
                <a:solidFill>
                  <a:srgbClr val="EB6834"/>
                </a:solidFill>
                <a:latin typeface="Segoe UI"/>
              </a:rPr>
              <a:t>wrong on all three, and far more confident</a:t>
            </a:r>
            <a:r>
              <a:rPr sz="1500" b="0">
                <a:solidFill>
                  <a:srgbClr val="0B0B0B"/>
                </a:solidFill>
                <a:latin typeface="Segoe U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It is not three unlucky chips.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500 held-out images, nominal versus adverse.</a:t>
            </a:r>
          </a:p>
        </p:txBody>
      </p:sp>
      <p:pic>
        <p:nvPicPr>
          <p:cNvPr id="4" name="Picture 3" descr="fig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339" y="1627632"/>
            <a:ext cx="6801016" cy="3995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Accuracy falls 13.8 points. Mean confidence </a:t>
            </a:r>
            <a:r>
              <a:rPr sz="1500" b="1">
                <a:solidFill>
                  <a:srgbClr val="EB6834"/>
                </a:solidFill>
                <a:latin typeface="Segoe UI"/>
              </a:rPr>
              <a:t>rises</a:t>
            </a:r>
            <a:r>
              <a:rPr sz="1500" b="0">
                <a:solidFill>
                  <a:srgbClr val="0B0B0B"/>
                </a:solidFill>
                <a:latin typeface="Segoe UI"/>
              </a:rPr>
              <a:t> 3.2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A confidence gate fails exactly when you need it.</a:t>
            </a:r>
          </a:p>
        </p:txBody>
      </p:sp>
      <p:pic>
        <p:nvPicPr>
          <p:cNvPr id="3" name="Picture 2" descr="fig_error_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27" y="1207008"/>
            <a:ext cx="9159641" cy="4416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Under adverse conditions </a:t>
            </a:r>
            <a:r>
              <a:rPr sz="1500" b="1">
                <a:solidFill>
                  <a:srgbClr val="EB6834"/>
                </a:solidFill>
                <a:latin typeface="Segoe UI"/>
              </a:rPr>
              <a:t>90% of errors sit above the 0.65 threshold</a:t>
            </a:r>
            <a:r>
              <a:rPr sz="1500" b="0">
                <a:solidFill>
                  <a:srgbClr val="0B0B0B"/>
                </a:solidFill>
                <a:latin typeface="Segoe UI"/>
              </a:rPr>
              <a:t>, invisible to it. Under nominal conditions, 39%.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CONFROUTE: make refusal a routing action.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Post-scoring, pre-actuation: consumes uncertainty without touching the model, logs every decision.</a:t>
            </a:r>
          </a:p>
        </p:txBody>
      </p:sp>
      <p:pic>
        <p:nvPicPr>
          <p:cNvPr id="4" name="Picture 3" descr="architecture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421" y="1627632"/>
            <a:ext cx="6816852" cy="4544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Three actions, one of them new.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8299" y="1691640"/>
            <a:ext cx="3429000" cy="32004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8299" y="1691640"/>
            <a:ext cx="3429000" cy="889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4059" y="21488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2A78D6"/>
                </a:solidFill>
                <a:latin typeface="Segoe UI"/>
              </a:rPr>
              <a:t>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059" y="288036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  <a:latin typeface="Segoe UI"/>
              </a:rPr>
              <a:t>Run the model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4059" y="361188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Confident enough to act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1347" y="1691640"/>
            <a:ext cx="3429000" cy="32004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1347" y="1691640"/>
            <a:ext cx="3429000" cy="889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7107" y="21488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BAF7A"/>
                </a:solidFill>
                <a:latin typeface="Segoe UI"/>
              </a:rPr>
              <a:t>OFFLOAD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7107" y="288036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  <a:latin typeface="Segoe UI"/>
              </a:rPr>
              <a:t>Ask a peer or relay.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7107" y="361188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Link is usable, queue is loaded.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4395" y="1691640"/>
            <a:ext cx="3429000" cy="3200400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4395" y="1691640"/>
            <a:ext cx="3429000" cy="889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0155" y="21488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EB6834"/>
                </a:solidFill>
                <a:latin typeface="Segoe UI"/>
              </a:rPr>
              <a:t>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0155" y="288036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0B0B0B"/>
                </a:solidFill>
                <a:latin typeface="Segoe UI"/>
              </a:rPr>
              <a:t>Refuse, and act safely.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0155" y="361188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Uncertain and cut 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5780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Scores decide, </a:t>
            </a:r>
            <a:r>
              <a:rPr sz="1700" b="1">
                <a:solidFill>
                  <a:srgbClr val="104680"/>
                </a:solidFill>
                <a:latin typeface="Segoe UI"/>
              </a:rPr>
              <a:t>guardrails override</a:t>
            </a:r>
            <a:r>
              <a:rPr sz="1700" b="0">
                <a:solidFill>
                  <a:srgbClr val="52514E"/>
                </a:solidFill>
                <a:latin typeface="Segoe UI"/>
              </a:rPr>
              <a:t>: no offload without a peer, no local execution on a safety-critical task below the confidence floor.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Fallback is an action, not an error code.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What the conservative branch means, per maritime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64791"/>
            <a:ext cx="10874959" cy="868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74519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04680"/>
                </a:solidFill>
                <a:latin typeface="Segoe UI"/>
              </a:rPr>
              <a:t>Collision avoidance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7" y="1874519"/>
            <a:ext cx="6760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Reduce speed, sound horn, hold heading, alert the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43783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04680"/>
                </a:solidFill>
                <a:latin typeface="Segoe UI"/>
              </a:rPr>
              <a:t>Maritime surveillance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2843783"/>
            <a:ext cx="6760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Flag the chip for review, defer the alert, request another pass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703319"/>
            <a:ext cx="10874959" cy="868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813047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04680"/>
                </a:solidFill>
                <a:latin typeface="Segoe UI"/>
              </a:rPr>
              <a:t>Engine 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3813047"/>
            <a:ext cx="6760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Report “inspection needed”, fall back to a limit-based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782311"/>
            <a:ext cx="3291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04680"/>
                </a:solidFill>
                <a:latin typeface="Segoe UI"/>
              </a:rPr>
              <a:t>Waypoint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4782311"/>
            <a:ext cx="67601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Hold position, revert to last safe heading, request 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7044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Conservative, auditable, and aligned with COLREGS/IMO practice: the ship does something safe and says why.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Refuse only when both signals fail.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Confidence below 0.65 and bandwidth below 1.8 Mbps.</a:t>
            </a:r>
          </a:p>
        </p:txBody>
      </p:sp>
      <p:pic>
        <p:nvPicPr>
          <p:cNvPr id="4" name="Picture 3" descr="fig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094" y="1627632"/>
            <a:ext cx="5701507" cy="3995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If the link is healthy, the router would rather </a:t>
            </a:r>
            <a:r>
              <a:rPr sz="1500" b="1">
                <a:solidFill>
                  <a:srgbClr val="104680"/>
                </a:solidFill>
                <a:latin typeface="Segoe UI"/>
              </a:rPr>
              <a:t>ask a better-resourced peer than refuse</a:t>
            </a:r>
            <a:r>
              <a:rPr sz="1500" b="0">
                <a:solidFill>
                  <a:srgbClr val="0B0B0B"/>
                </a:solidFill>
                <a:latin typeface="Segoe UI"/>
              </a:rPr>
              <a:t>. That keeps fallback rare.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37,500 routing decisions.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2,500 tasks × 5 policies × 3 link regimes.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44855" y="1920240"/>
            <a:ext cx="2606040" cy="2377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4855" y="228600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2A78D6"/>
                </a:solidFill>
                <a:latin typeface="Segoe UI"/>
              </a:rPr>
              <a:t>4,000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455" y="3200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PlanetScope chips
80 × 80, ShipsNet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3503" y="1920240"/>
            <a:ext cx="2606040" cy="2377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43503" y="228600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2A78D6"/>
                </a:solidFill>
                <a:latin typeface="Segoe UI"/>
              </a:rPr>
              <a:t>ResNet-18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2103" y="3200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ImageNet-initialised
84.8%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2151" y="1920240"/>
            <a:ext cx="2606040" cy="2377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2151" y="228600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0751" y="3200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link regimes
stable / intermittent / degraded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0799" y="1920240"/>
            <a:ext cx="2606040" cy="2377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0799" y="2286000"/>
            <a:ext cx="2606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2A78D6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9399" y="3200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baselines
local, offload, confidence,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80060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104680"/>
                </a:solidFill>
                <a:latin typeface="Segoe UI"/>
              </a:rPr>
              <a:t>Unsafe rate</a:t>
            </a:r>
            <a:r>
              <a:rPr sz="1700" b="0">
                <a:solidFill>
                  <a:srgbClr val="52514E"/>
                </a:solidFill>
                <a:latin typeface="Segoe UI"/>
              </a:rPr>
              <a:t> = routing-layer risk: safety-sensitive local errors, low-confidence local decisions, failed safety-sensitive offloads.
It is not a count of physical incidents.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Every baseline converges at about 7%.</a:t>
            </a:r>
          </a:p>
        </p:txBody>
      </p:sp>
      <p:pic>
        <p:nvPicPr>
          <p:cNvPr id="3" name="Picture 2" descr="fig_unsafe_by_sce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648" y="1207008"/>
            <a:ext cx="7582399" cy="4416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When the link goes, so does their escape hatch. </a:t>
            </a:r>
            <a:r>
              <a:rPr sz="1500" b="1">
                <a:solidFill>
                  <a:srgbClr val="2A78D6"/>
                </a:solidFill>
                <a:latin typeface="Segoe UI"/>
              </a:rPr>
              <a:t>CONFROUTE holds at 4.8%</a:t>
            </a:r>
            <a:r>
              <a:rPr sz="1500" b="0">
                <a:solidFill>
                  <a:srgbClr val="0B0B0B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Degraded links: safer and faster.</a:t>
            </a:r>
          </a:p>
        </p:txBody>
      </p:sp>
      <p:pic>
        <p:nvPicPr>
          <p:cNvPr id="3" name="Picture 2" descr="fig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492" y="1207008"/>
            <a:ext cx="7124711" cy="44165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5724144"/>
            <a:ext cx="10874959" cy="65836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24729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Unsafe 6.8% → 4.8% and latency 98.2 → 58.5 ms against always-offload. </a:t>
            </a:r>
            <a:r>
              <a:rPr sz="1500" b="1">
                <a:solidFill>
                  <a:srgbClr val="2A78D6"/>
                </a:solidFill>
                <a:latin typeface="Segoe UI"/>
              </a:rPr>
              <a:t>A failed offload costs both.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Where we do not win: intermittent links.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The regime in which offloading still mostly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28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04680"/>
                </a:solidFill>
                <a:latin typeface="Segoe UI"/>
              </a:rPr>
              <a:t>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1828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04680"/>
                </a:solidFill>
                <a:latin typeface="Segoe UI"/>
              </a:rPr>
              <a:t>Latency (ms)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1828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04680"/>
                </a:solidFill>
                <a:latin typeface="Segoe UI"/>
              </a:rPr>
              <a:t>Unsafe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18288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04680"/>
                </a:solidFill>
                <a:latin typeface="Segoe UI"/>
              </a:rPr>
              <a:t>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240280"/>
            <a:ext cx="10326319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Always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3957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49.4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3957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5.8%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239572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9992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Always offload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9992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71.6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29992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299923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60273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Confidence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60273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59.6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60273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4.9%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360273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206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Load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4206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67.0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4206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3.8%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4206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0B0B0B"/>
                </a:solidFill>
                <a:latin typeface="Segoe UI"/>
              </a:rPr>
              <a:t>0.0%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18304"/>
            <a:ext cx="10874959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8097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A78D6"/>
                </a:solidFill>
                <a:latin typeface="Segoe UI"/>
              </a:rPr>
              <a:t>CONFROUTE (ours)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48097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A78D6"/>
                </a:solidFill>
                <a:latin typeface="Segoe UI"/>
              </a:rPr>
              <a:t>61.6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8097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A78D6"/>
                </a:solidFill>
                <a:latin typeface="Segoe UI"/>
              </a:rPr>
              <a:t>4.4%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48097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2A78D6"/>
                </a:solidFill>
                <a:latin typeface="Segoe UI"/>
              </a:rPr>
              <a:t>2.6%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532120"/>
            <a:ext cx="10874959" cy="841248"/>
          </a:xfrm>
          <a:prstGeom prst="rect">
            <a:avLst/>
          </a:prstGeom>
          <a:solidFill>
            <a:srgbClr val="FD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669280"/>
            <a:ext cx="103263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Load-only routing is safer here</a:t>
            </a:r>
            <a:r>
              <a:rPr sz="1600" b="0">
                <a:solidFill>
                  <a:srgbClr val="0B0B0B"/>
                </a:solidFill>
                <a:latin typeface="Segoe UI"/>
              </a:rPr>
              <a:t> (3.8% vs 4.4%), at 5.4 ms more latency. Our case is the degraded regime, which is also the regime that actually threatens the vessel.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Both parts are load-bearing, and the router adapts.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Unsafe outcome rate under degraded links, and the action mix by regime.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02536"/>
            <a:ext cx="4526280" cy="8229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488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A78D6"/>
                </a:solidFill>
                <a:latin typeface="Segoe UI"/>
              </a:rPr>
              <a:t>Full CONFROUTE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8768" y="2093976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2A78D6"/>
                </a:solidFill>
                <a:latin typeface="Segoe UI"/>
              </a:rPr>
              <a:t>4.8%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3288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7296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No fallback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3118104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0B0B0B"/>
                </a:solidFill>
                <a:latin typeface="Segoe UI"/>
              </a:rPr>
              <a:t>6.2%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5701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p = 0.012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19709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0B0B0B"/>
                </a:solidFill>
                <a:latin typeface="Segoe UI"/>
              </a:rPr>
              <a:t>No link-state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4142232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>
                <a:solidFill>
                  <a:srgbClr val="0B0B0B"/>
                </a:solidFill>
                <a:latin typeface="Segoe UI"/>
              </a:rPr>
              <a:t>5.9%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8114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p = 0.037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544068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Fallback carries more of the benefit than link awareness does.</a:t>
            </a:r>
          </a:p>
        </p:txBody>
      </p:sp>
      <p:pic>
        <p:nvPicPr>
          <p:cNvPr id="17" name="Picture 16" descr="fig_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2073776"/>
            <a:ext cx="5982919" cy="2939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50408" y="5440680"/>
            <a:ext cx="59829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Offload collapses 89% → 11%. Fallback stays a </a:t>
            </a:r>
            <a:r>
              <a:rPr sz="1500" b="1">
                <a:solidFill>
                  <a:srgbClr val="104680"/>
                </a:solidFill>
                <a:latin typeface="Segoe UI"/>
              </a:rPr>
              <a:t>bounded minority</a:t>
            </a:r>
            <a:r>
              <a:rPr sz="1500" b="0">
                <a:solidFill>
                  <a:srgbClr val="52514E"/>
                </a:solidFill>
                <a:latin typeface="Segoe UI"/>
              </a:rPr>
              <a:t>: the vessel keeps operating.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86000"/>
            <a:ext cx="9631375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104680"/>
                </a:solidFill>
                <a:latin typeface="Segoe UI"/>
              </a:rPr>
              <a:t>The routing layer was
never the bottleneck.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4206240"/>
            <a:ext cx="83512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52514E"/>
                </a:solidFill>
                <a:latin typeface="Segoe UI"/>
              </a:rPr>
              <a:t>We improved it, and unsafe outcomes still occur at high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What we are not claiming.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002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EB6834"/>
                </a:solidFill>
                <a:latin typeface="Segoe UI"/>
              </a:rPr>
              <a:t>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84831"/>
            <a:ext cx="91440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2316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Degradation is synthetic.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55848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One task family: satellite chips.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28853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Outcomes from a cost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21224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Thresholds fixed and trace-tuned.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60020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04680"/>
                </a:solidFill>
                <a:latin typeface="Segoe UI"/>
              </a:rPr>
              <a:t>Where this goes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0528" y="2084831"/>
            <a:ext cx="914400" cy="50800"/>
          </a:xfrm>
          <a:prstGeom prst="rect">
            <a:avLst/>
          </a:prstGeom>
          <a:solidFill>
            <a:srgbClr val="10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42316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Calibration first: conformal, OOD.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355848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Adaptive thresholds via bandits.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288536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Peer-aware forwarding.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221224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0B0B0B"/>
                </a:solidFill>
                <a:latin typeface="Segoe UI"/>
              </a:rPr>
              <a:t>•  Real traces, hardware-in-the-loop.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749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04680"/>
                </a:solidFill>
                <a:latin typeface="Segoe UI"/>
              </a:rPr>
              <a:t>Three things to take away.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CONFROUTE  |  ICMIC 2026, NTUST Taipei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3825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98781"/>
                </a:solidFill>
                <a:latin typeface="Segoe U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8" y="1764792"/>
            <a:ext cx="10051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0B0B0B"/>
                </a:solidFill>
                <a:latin typeface="Segoe UI"/>
              </a:rPr>
              <a:t>Fallback deserves to be a routing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2304288"/>
            <a:ext cx="100519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Under degraded links it cuts unsafe outcomes from 6.8% to 4.8% and saves 40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5468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A78D6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3182112"/>
            <a:ext cx="10051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0B0B0B"/>
                </a:solidFill>
                <a:latin typeface="Segoe UI"/>
              </a:rPr>
              <a:t>Confidence thresholds break exactly when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3721608"/>
            <a:ext cx="100519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Accuracy falls 13.8 points while confidence rises, and 90% of errors clear the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57200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4599432"/>
            <a:ext cx="100519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1">
                <a:solidFill>
                  <a:srgbClr val="0B0B0B"/>
                </a:solidFill>
                <a:latin typeface="Segoe UI"/>
              </a:rPr>
              <a:t>Calibration is the reliability bottleneck.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5138928"/>
            <a:ext cx="100519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52514E"/>
                </a:solidFill>
                <a:latin typeface="Segoe UI"/>
              </a:rPr>
              <a:t>Ahead of routing or scheduling. Safe autonomy at sea depends on knowing what the model does not know.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3"/>
          <a:srcRect t="9640" b="964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120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Thank you. 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383280"/>
            <a:ext cx="1463040" cy="635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1087495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Anthony Uchenna Eneh
</a:t>
            </a:r>
            <a:r>
              <a:rPr sz="1800" b="0">
                <a:solidFill>
                  <a:srgbClr val="D8E4F2"/>
                </a:solidFill>
                <a:latin typeface="Segoe UI"/>
              </a:rPr>
              <a:t>anthony@kumoh.ac.kr
Kumoh National Institute of Technology, Gumi, South Korea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030C18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87044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C3D4E8"/>
                </a:solidFill>
                <a:latin typeface="Segoe UI"/>
              </a:rPr>
              <a:t>Photographs, Wikimedia Commons: Wilfredor (CC BY-SA 3.0); Cavernia (CC BY-SA 4.0); Ein Dahmer (CC BY-SA 4.0).  Satellite imagery and 80 × 80 chips: Ships in Satellite Imagery (ShipsNet), Planet Labs / Kaggle, CC BY-SA 4.0.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
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Name, affiliation, one line: this is a paper about when an edge AI system on a ship should refuse to make a decision. 20 seconds, do not linger.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scene fast. Edge AI is already deployed at sea. Do not list applications, the slide does it. ~25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Constraint one. Offloading is not a guaranteed escape hatch. ~25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Constraint two, and the one this paper is really about. Point at the haze. ~25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inversion. Latency-optimal is not safety-optimal. Say it plainly and pause. ~25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question the paper answers. Let it sit for a beat. ~15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 maritime MEC work optimises latency against energy and treats confidence as a trustworthy gate. We tested it. ~25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chips from the dataset. All three correct. Note confidence is only 0.51 to 0.67: honestly unsure. ~30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slide. Same three vessels after the adverse transform. 0.67 correct becomes 0.96 WRONG. Slow down here. ~45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population-level version of the previous slide. The lines cross. That crossing is the paper. ~40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Errors only, plotted against the fallback threshold. 39% escape under nominal, 90% under adverse. ~40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line, then move to the method. ~12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break into the method. ~15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the three branches with the pointer. The router is post-scoring, pre-actuation, so it drops into an existing stack. ~40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when confident and the queue allows. Offload when the link is good and the queue is loaded. Fallback when uncertain AND cut off. ~35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Kills the objection that fallback means crash or do nothing. Read the collision-avoidance row aloud, then move on. ~35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Requiring both conditions is what stops the router hiding behind fallback. ~30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ShipsNet, ResNet-18, three link regimes, four baselines. Say the unsafe-rate definition out loud: routing-layer risk, not physical incidents. ~35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convergence is the story. Stable links flatter everything that offloads; degraded links expose the dependency. ~45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Normally safety costs latency. Not here, because attempting an offload that fails wastes time AND leaves the task unhandled. ~40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Deliberate honesty, and it buys credibility. Load-only is safer here. Say why, then land the closing line. ~40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Shows adaptation, and that fallback never runs away. ~30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Removing fallback hurts more than removing link awareness. Having somewhere to put an undecidable task is the bigger effect. ~30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Slow down. Let it sit before speaking. This is what you want the room to remember. ~25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limitations without apologising, then the forward path with calibration first. ~40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three headers only, then stop and invite questions. Do not add a new thought here. ~40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you, and take questions. Backup slides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3"/>
          <a:srcRect t="9640" b="964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120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9EC5F4"/>
                </a:solidFill>
                <a:latin typeface="Segoe UI"/>
              </a:rPr>
              <a:t>ICMIC 2026  ·  NTUST, Taipei  ·  19–21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1087495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Segoe UI"/>
              </a:rPr>
              <a:t>CONFROUTE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43200"/>
            <a:ext cx="85340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0">
                <a:solidFill>
                  <a:srgbClr val="CDE2FB"/>
                </a:solidFill>
                <a:latin typeface="Segoe UI"/>
              </a:rPr>
              <a:t>Confidence-Aware Routing for Resilient Maritime Edge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069080"/>
            <a:ext cx="1463040" cy="635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526280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Anthony Uchenna Eneh</a:t>
            </a:r>
            <a:r>
              <a:rPr sz="1900" b="0">
                <a:solidFill>
                  <a:srgbClr val="D8E4F2"/>
                </a:solidFill>
                <a:latin typeface="Segoe UI"/>
              </a:rPr>
              <a:t>   ·   Love Allen Chijioke Ahakonye   ·   Jae Min Lee   ·   Dong-Seong Kim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16636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9EC5F4"/>
                </a:solidFill>
                <a:latin typeface="Segoe UI"/>
              </a:rPr>
              <a:t>Kumoh National Institute of Technology, Gumi, South Korea   ·   NSLab Co.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nsor.jpg"/>
          <p:cNvPicPr>
            <a:picLocks noChangeAspect="1"/>
          </p:cNvPicPr>
          <p:nvPr/>
        </p:nvPicPr>
        <p:blipFill>
          <a:blip r:embed="rId3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566160"/>
            <a:ext cx="12191695" cy="3291840"/>
          </a:xfrm>
          <a:prstGeom prst="rect">
            <a:avLst/>
          </a:prstGeom>
          <a:solidFill>
            <a:srgbClr val="05142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160520"/>
            <a:ext cx="1087495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Ships now run AI on 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9496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0">
                <a:solidFill>
                  <a:srgbClr val="D8E4F2"/>
                </a:solidFill>
                <a:latin typeface="Segoe UI"/>
              </a:rPr>
              <a:t>Perception, monitoring, video triage, navigation support.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849624"/>
            <a:ext cx="1005840" cy="635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tcom.jpg"/>
          <p:cNvPicPr>
            <a:picLocks noChangeAspect="1"/>
          </p:cNvPicPr>
          <p:nvPr/>
        </p:nvPicPr>
        <p:blipFill>
          <a:blip r:embed="rId3"/>
          <a:srcRect t="5591" b="559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566160"/>
            <a:ext cx="12191695" cy="3291840"/>
          </a:xfrm>
          <a:prstGeom prst="rect">
            <a:avLst/>
          </a:prstGeom>
          <a:solidFill>
            <a:srgbClr val="05142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160520"/>
            <a:ext cx="1087495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The link is not always there.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9496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0">
                <a:solidFill>
                  <a:srgbClr val="D8E4F2"/>
                </a:solidFill>
                <a:latin typeface="Segoe UI"/>
              </a:rPr>
              <a:t>Satellite and ship-to-ship connectivity is intermittent by nature.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849624"/>
            <a:ext cx="1005840" cy="635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g.jpg"/>
          <p:cNvPicPr>
            <a:picLocks noChangeAspect="1"/>
          </p:cNvPicPr>
          <p:nvPr/>
        </p:nvPicPr>
        <p:blipFill>
          <a:blip r:embed="rId3"/>
          <a:srcRect t="16170" b="1617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566160"/>
            <a:ext cx="12191695" cy="3291840"/>
          </a:xfrm>
          <a:prstGeom prst="rect">
            <a:avLst/>
          </a:prstGeom>
          <a:solidFill>
            <a:srgbClr val="05142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160520"/>
            <a:ext cx="1087495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And the sea changes what the camera sees.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9496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0">
                <a:solidFill>
                  <a:srgbClr val="D8E4F2"/>
                </a:solidFill>
                <a:latin typeface="Segoe UI"/>
              </a:rPr>
              <a:t>Sea state, illumination, haze, occlusion: the input drifts away from training.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849624"/>
            <a:ext cx="1005840" cy="635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orm.jpg"/>
          <p:cNvPicPr>
            <a:picLocks noChangeAspect="1"/>
          </p:cNvPicPr>
          <p:nvPr/>
        </p:nvPicPr>
        <p:blipFill>
          <a:blip r:embed="rId3"/>
          <a:srcRect t="12499" b="12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2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1087495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A wrong answer costs more than a slow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06908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0">
                <a:solidFill>
                  <a:srgbClr val="D8E4F2"/>
                </a:solidFill>
                <a:latin typeface="Segoe UI"/>
              </a:rPr>
              <a:t>That inversion is what separates this from ordinary edge offloading.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157984"/>
            <a:ext cx="1005840" cy="635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286000"/>
            <a:ext cx="9631375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400" b="1">
                <a:solidFill>
                  <a:srgbClr val="104680"/>
                </a:solidFill>
                <a:latin typeface="Segoe UI"/>
              </a:rPr>
              <a:t>Act now, ask for help, or refuse to answer?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4206240"/>
            <a:ext cx="83512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2514E"/>
                </a:solidFill>
                <a:latin typeface="Segoe UI"/>
              </a:rPr>
              <a:t>Every task, on every node, under uncertainty.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286000"/>
            <a:ext cx="9631375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400" b="1">
                <a:solidFill>
                  <a:srgbClr val="104680"/>
                </a:solidFill>
                <a:latin typeface="Segoe UI"/>
              </a:rPr>
              <a:t>Everyone assumes the model
knows when it is unsure.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4206240"/>
            <a:ext cx="83512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2514E"/>
                </a:solidFill>
                <a:latin typeface="Segoe UI"/>
              </a:rPr>
              <a:t>Confidence-threshold offloading is built entirely on that assumption.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Clear water: the classifier finds every ship.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Three held-out ShipsNet chips, 80 × 80 PlanetScope imagery.</a:t>
            </a:r>
          </a:p>
        </p:txBody>
      </p:sp>
      <p:pic>
        <p:nvPicPr>
          <p:cNvPr id="4" name="Picture 3" descr="fig_chips_no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22651"/>
            <a:ext cx="10874959" cy="39545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Add haze, and it stops seeing them.</a:t>
            </a:r>
          </a:p>
        </p:txBody>
      </p:sp>
      <p:pic>
        <p:nvPicPr>
          <p:cNvPr id="3" name="Picture 2" descr="fig_chi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529" y="1207008"/>
            <a:ext cx="5496636" cy="44165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8368" y="5724144"/>
            <a:ext cx="10874959" cy="658368"/>
          </a:xfrm>
          <a:prstGeom prst="rect">
            <a:avLst/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824729"/>
            <a:ext cx="103628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Every chip still contains a ship. The model is now </a:t>
            </a:r>
            <a:r>
              <a:rPr sz="1500" b="1">
                <a:solidFill>
                  <a:srgbClr val="EB6834"/>
                </a:solidFill>
                <a:latin typeface="Segoe UI"/>
              </a:rPr>
              <a:t>wrong on all three, and far more confident</a:t>
            </a:r>
            <a:r>
              <a:rPr sz="1500" b="0">
                <a:solidFill>
                  <a:srgbClr val="0B0B0B"/>
                </a:solidFill>
                <a:latin typeface="Segoe U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It is not three unlucky chips.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500 held-out images, nominal versus adverse.</a:t>
            </a:r>
          </a:p>
        </p:txBody>
      </p:sp>
      <p:pic>
        <p:nvPicPr>
          <p:cNvPr id="4" name="Picture 3" descr="fig_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339" y="1627632"/>
            <a:ext cx="6801016" cy="3995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5724144"/>
            <a:ext cx="10874959" cy="658368"/>
          </a:xfrm>
          <a:prstGeom prst="rect">
            <a:avLst/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824729"/>
            <a:ext cx="103628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Accuracy falls 13.8 points. Mean confidence </a:t>
            </a:r>
            <a:r>
              <a:rPr sz="1500" b="1">
                <a:solidFill>
                  <a:srgbClr val="EB6834"/>
                </a:solidFill>
                <a:latin typeface="Segoe UI"/>
              </a:rPr>
              <a:t>rises</a:t>
            </a:r>
            <a:r>
              <a:rPr sz="1500" b="0">
                <a:solidFill>
                  <a:srgbClr val="0B0B0B"/>
                </a:solidFill>
                <a:latin typeface="Segoe UI"/>
              </a:rPr>
              <a:t> 3.2 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So a confidence gate cannot see the errors.</a:t>
            </a:r>
          </a:p>
        </p:txBody>
      </p:sp>
      <p:pic>
        <p:nvPicPr>
          <p:cNvPr id="3" name="Picture 2" descr="fig_error_conf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027" y="1207008"/>
            <a:ext cx="9159641" cy="44165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8368" y="5724144"/>
            <a:ext cx="10874959" cy="658368"/>
          </a:xfrm>
          <a:prstGeom prst="rect">
            <a:avLst/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824729"/>
            <a:ext cx="103628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Under adverse conditions </a:t>
            </a:r>
            <a:r>
              <a:rPr sz="1500" b="1">
                <a:solidFill>
                  <a:srgbClr val="EB6834"/>
                </a:solidFill>
                <a:latin typeface="Segoe UI"/>
              </a:rPr>
              <a:t>90% of errors sit above the 0.65 threshold</a:t>
            </a:r>
            <a:r>
              <a:rPr sz="1500" b="0">
                <a:solidFill>
                  <a:srgbClr val="0B0B0B"/>
                </a:solidFill>
                <a:latin typeface="Segoe UI"/>
              </a:rPr>
              <a:t>, invisible to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286000"/>
            <a:ext cx="9631375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400" b="1">
                <a:solidFill>
                  <a:srgbClr val="EB6834"/>
                </a:solidFill>
                <a:latin typeface="Segoe UI"/>
              </a:rPr>
              <a:t>A confidence gate fails
exactly when you need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286000"/>
            <a:ext cx="9631375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400" b="1">
                <a:solidFill>
                  <a:srgbClr val="104680"/>
                </a:solidFill>
                <a:latin typeface="Segoe UI"/>
              </a:rPr>
              <a:t>CONFROUTE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4206240"/>
            <a:ext cx="83512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2514E"/>
                </a:solidFill>
                <a:latin typeface="Segoe UI"/>
              </a:rPr>
              <a:t>Make refusal a first-class routing action, alongside compute and offload.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One layer, between the model and the actuator.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Consumes uncertainty without touching the model. Logs every decision for audit.</a:t>
            </a:r>
          </a:p>
        </p:txBody>
      </p:sp>
      <p:pic>
        <p:nvPicPr>
          <p:cNvPr id="4" name="Picture 3" descr="architecture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421" y="1627632"/>
            <a:ext cx="6816852" cy="45445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Three actions, one of them new.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8299" y="1691640"/>
            <a:ext cx="3429000" cy="32004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8299" y="1691640"/>
            <a:ext cx="3429000" cy="889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4059" y="2148840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2A78D6"/>
                </a:solidFill>
                <a:latin typeface="Segoe UI"/>
              </a:rPr>
              <a:t>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4059" y="2880360"/>
            <a:ext cx="2697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  <a:latin typeface="Segoe UI"/>
              </a:rPr>
              <a:t>Run the model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4059" y="3611880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Confident enough to act alone.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1347" y="1691640"/>
            <a:ext cx="3429000" cy="32004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1347" y="1691640"/>
            <a:ext cx="3429000" cy="889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47107" y="2148840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BAF7A"/>
                </a:solidFill>
                <a:latin typeface="Segoe UI"/>
              </a:rPr>
              <a:t>OFFLOAD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7107" y="2880360"/>
            <a:ext cx="2697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  <a:latin typeface="Segoe UI"/>
              </a:rPr>
              <a:t>Ask a peer or relay.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7107" y="3611880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Link is usable, queue is loaded.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94395" y="1691640"/>
            <a:ext cx="3429000" cy="3200400"/>
          </a:xfrm>
          <a:prstGeom prst="rect">
            <a:avLst/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94395" y="1691640"/>
            <a:ext cx="3429000" cy="889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60155" y="2148840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EB6834"/>
                </a:solidFill>
                <a:latin typeface="Segoe UI"/>
              </a:rPr>
              <a:t>FALLBACK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0155" y="2880360"/>
            <a:ext cx="2697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  <a:latin typeface="Segoe UI"/>
              </a:rPr>
              <a:t>Refuse, and act safely.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0155" y="3611880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Uncertain and cut off.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257800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52514E"/>
                </a:solidFill>
                <a:latin typeface="Segoe UI"/>
              </a:rPr>
              <a:t>Scores decide, </a:t>
            </a:r>
            <a:r>
              <a:rPr sz="1700" b="1">
                <a:solidFill>
                  <a:srgbClr val="104680"/>
                </a:solidFill>
                <a:latin typeface="Segoe UI"/>
              </a:rPr>
              <a:t>guardrails override</a:t>
            </a:r>
            <a:r>
              <a:rPr sz="1700" b="0">
                <a:solidFill>
                  <a:srgbClr val="52514E"/>
                </a:solidFill>
                <a:latin typeface="Segoe UI"/>
              </a:rPr>
              <a:t>: no offload without a peer, no local execution on a safety-critical task below the confidence floor.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Fallback is an action, not an error code.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What the conservative branch means, per maritime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64791"/>
            <a:ext cx="10874959" cy="8686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74519"/>
            <a:ext cx="3291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04680"/>
                </a:solidFill>
                <a:latin typeface="Segoe UI"/>
              </a:rPr>
              <a:t>Collision avoidance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7" y="1874519"/>
            <a:ext cx="67601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Reduce speed, sound horn, hold heading, alert the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43783"/>
            <a:ext cx="3291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04680"/>
                </a:solidFill>
                <a:latin typeface="Segoe UI"/>
              </a:rPr>
              <a:t>Maritime surveillance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7" y="2843783"/>
            <a:ext cx="67601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Flag the chip for review, defer the alert, request another pass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703319"/>
            <a:ext cx="10874959" cy="8686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813047"/>
            <a:ext cx="3291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04680"/>
                </a:solidFill>
                <a:latin typeface="Segoe UI"/>
              </a:rPr>
              <a:t>Engine anomaly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7" y="3813047"/>
            <a:ext cx="67601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Report “inspection needed”, fall back to a limit-based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782311"/>
            <a:ext cx="3291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04680"/>
                </a:solidFill>
                <a:latin typeface="Segoe UI"/>
              </a:rPr>
              <a:t>Waypoint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7" y="4782311"/>
            <a:ext cx="67601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Hold position, revert to last safe heading, request human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87044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Conservative, auditable, and aligned with COLREGS/IMO practice: the ship does something safe and says why.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Refuse only when both signals fail.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Confidence below 0.65 and bandwidth below 1.8 Mbps.</a:t>
            </a:r>
          </a:p>
        </p:txBody>
      </p:sp>
      <p:pic>
        <p:nvPicPr>
          <p:cNvPr id="4" name="Picture 3" descr="fig_bound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5094" y="1627632"/>
            <a:ext cx="5701507" cy="3995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5724144"/>
            <a:ext cx="10874959" cy="658368"/>
          </a:xfrm>
          <a:prstGeom prst="rect">
            <a:avLst/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824729"/>
            <a:ext cx="103628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If the link is healthy, the router would rather </a:t>
            </a:r>
            <a:r>
              <a:rPr sz="1500" b="1">
                <a:solidFill>
                  <a:srgbClr val="104680"/>
                </a:solidFill>
                <a:latin typeface="Segoe UI"/>
              </a:rPr>
              <a:t>ask a better-resourced peer than refuse</a:t>
            </a:r>
            <a:r>
              <a:rPr sz="1500" b="0">
                <a:solidFill>
                  <a:srgbClr val="0B0B0B"/>
                </a:solidFill>
                <a:latin typeface="Segoe UI"/>
              </a:rPr>
              <a:t>. That keeps fallback rare.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37,500 routing decisions.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2,500 tasks × 5 policies × 3 link regimes.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44855" y="1920240"/>
            <a:ext cx="2606040" cy="23774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4855" y="228600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2A78D6"/>
                </a:solidFill>
                <a:latin typeface="Segoe UI"/>
              </a:rPr>
              <a:t>4,000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455" y="3200400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PlanetScope chips
80 × 80, ShipsNet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3503" y="1920240"/>
            <a:ext cx="2606040" cy="23774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43503" y="228600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2A78D6"/>
                </a:solidFill>
                <a:latin typeface="Segoe UI"/>
              </a:rPr>
              <a:t>ResNet-18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2103" y="3200400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ImageNet-initialised
84.8% validation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2151" y="1920240"/>
            <a:ext cx="2606040" cy="23774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2151" y="228600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2A78D6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0751" y="3200400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link regimes
stable / intermittent / degraded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0799" y="1920240"/>
            <a:ext cx="2606040" cy="23774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0799" y="228600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2A78D6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9399" y="3200400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baselines
local, offload, confidence, 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80060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1">
                <a:solidFill>
                  <a:srgbClr val="104680"/>
                </a:solidFill>
                <a:latin typeface="Segoe UI"/>
              </a:rPr>
              <a:t>Unsafe rate</a:t>
            </a:r>
            <a:r>
              <a:rPr sz="1700" b="0">
                <a:solidFill>
                  <a:srgbClr val="52514E"/>
                </a:solidFill>
                <a:latin typeface="Segoe UI"/>
              </a:rPr>
              <a:t> = routing-layer risk: safety-sensitive local errors, low-confidence local decisions, failed safety-sensitive offloads.
It is not a count of physical incidents.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Every baseline converges at about 7%.</a:t>
            </a:r>
          </a:p>
        </p:txBody>
      </p:sp>
      <p:pic>
        <p:nvPicPr>
          <p:cNvPr id="3" name="Picture 2" descr="fig_unsafe_by_scen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648" y="1207008"/>
            <a:ext cx="7582399" cy="44165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8368" y="5724144"/>
            <a:ext cx="10874959" cy="658368"/>
          </a:xfrm>
          <a:prstGeom prst="rect">
            <a:avLst/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824729"/>
            <a:ext cx="103628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When the link goes, so does their escape hatch. </a:t>
            </a:r>
            <a:r>
              <a:rPr sz="1500" b="1">
                <a:solidFill>
                  <a:srgbClr val="2A78D6"/>
                </a:solidFill>
                <a:latin typeface="Segoe UI"/>
              </a:rPr>
              <a:t>CONFROUTE holds at 4.8%</a:t>
            </a:r>
            <a:r>
              <a:rPr sz="1500" b="0">
                <a:solidFill>
                  <a:srgbClr val="0B0B0B"/>
                </a:solidFill>
                <a:latin typeface="Segoe U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Degraded links: safer and faster.</a:t>
            </a:r>
          </a:p>
        </p:txBody>
      </p:sp>
      <p:pic>
        <p:nvPicPr>
          <p:cNvPr id="3" name="Picture 2" descr="fig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492" y="1207008"/>
            <a:ext cx="7124711" cy="44165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8368" y="5724144"/>
            <a:ext cx="10874959" cy="658368"/>
          </a:xfrm>
          <a:prstGeom prst="rect">
            <a:avLst/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824729"/>
            <a:ext cx="103628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Unsafe 6.8% → 4.8% and latency 98.2 → 58.5 ms against always-offload. </a:t>
            </a:r>
            <a:r>
              <a:rPr sz="1500" b="1">
                <a:solidFill>
                  <a:srgbClr val="2A78D6"/>
                </a:solidFill>
                <a:latin typeface="Segoe UI"/>
              </a:rPr>
              <a:t>A failed offload costs both.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Where we do not win: intermittent links.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The regime in which offloading still mostly 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8288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04680"/>
                </a:solidFill>
                <a:latin typeface="Segoe UI"/>
              </a:rPr>
              <a:t>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4608" y="18288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04680"/>
                </a:solidFill>
                <a:latin typeface="Segoe UI"/>
              </a:rPr>
              <a:t>Latency (ms)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18288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04680"/>
                </a:solidFill>
                <a:latin typeface="Segoe UI"/>
              </a:rPr>
              <a:t>Unsafe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528" y="18288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04680"/>
                </a:solidFill>
                <a:latin typeface="Segoe UI"/>
              </a:rPr>
              <a:t>Fallback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240280"/>
            <a:ext cx="10326319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Always 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239572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49.4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239572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5.8%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239572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9992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Always offload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29992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71.6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29992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4.3%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6528" y="29992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60273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Confidence threshold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8" y="360273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59.6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360273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4.9%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360273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2062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Load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42062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67.0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42062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3.8%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96528" y="42062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0.0%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718304"/>
            <a:ext cx="10874959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80974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2A78D6"/>
                </a:solidFill>
                <a:latin typeface="Segoe UI"/>
              </a:rPr>
              <a:t>CONFROUTE (ours)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4608" y="480974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2A78D6"/>
                </a:solidFill>
                <a:latin typeface="Segoe UI"/>
              </a:rPr>
              <a:t>61.6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480974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2A78D6"/>
                </a:solidFill>
                <a:latin typeface="Segoe UI"/>
              </a:rPr>
              <a:t>4.4%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96528" y="480974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2A78D6"/>
                </a:solidFill>
                <a:latin typeface="Segoe UI"/>
              </a:rPr>
              <a:t>2.6%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532120"/>
            <a:ext cx="10874959" cy="841248"/>
          </a:xfrm>
          <a:prstGeom prst="rect">
            <a:avLst/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669280"/>
            <a:ext cx="103263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Load-only routing is safer here</a:t>
            </a:r>
            <a:r>
              <a:rPr sz="1600" b="0">
                <a:solidFill>
                  <a:srgbClr val="0B0B0B"/>
                </a:solidFill>
                <a:latin typeface="Segoe UI"/>
              </a:rPr>
              <a:t> (3.8% vs 4.4%), at 5.4 ms more latency. Our case is the degraded regime, which is also the regime that actually threatens the vessel.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The router shifts with the link.</a:t>
            </a:r>
          </a:p>
        </p:txBody>
      </p:sp>
      <p:pic>
        <p:nvPicPr>
          <p:cNvPr id="3" name="Picture 2" descr="fig_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537" y="1207008"/>
            <a:ext cx="8990621" cy="44165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8368" y="5724144"/>
            <a:ext cx="10874959" cy="658368"/>
          </a:xfrm>
          <a:prstGeom prst="rect">
            <a:avLst/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824729"/>
            <a:ext cx="103628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Offload collapses 89% → 11%. Fallback stays a </a:t>
            </a:r>
            <a:r>
              <a:rPr sz="1500" b="1">
                <a:solidFill>
                  <a:srgbClr val="104680"/>
                </a:solidFill>
                <a:latin typeface="Segoe UI"/>
              </a:rPr>
              <a:t>bounded minority</a:t>
            </a:r>
            <a:r>
              <a:rPr sz="1500" b="0">
                <a:solidFill>
                  <a:srgbClr val="0B0B0B"/>
                </a:solidFill>
                <a:latin typeface="Segoe UI"/>
              </a:rPr>
              <a:t>: the vessel keeps operating.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Both parts are load-bearing.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Unsafe outcome rate under degraded links.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139696"/>
            <a:ext cx="10874959" cy="786384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286000"/>
            <a:ext cx="594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2A78D6"/>
                </a:solidFill>
                <a:latin typeface="Segoe UI"/>
              </a:rPr>
              <a:t>Full CONFROUTE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2048" y="228600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2A78D6"/>
                </a:solidFill>
                <a:latin typeface="Segoe UI"/>
              </a:rPr>
              <a:t>4.8%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3728" y="228600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246120"/>
            <a:ext cx="594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0B0B0B"/>
                </a:solidFill>
                <a:latin typeface="Segoe UI"/>
              </a:rPr>
              <a:t>Without the fallback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32461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0B0B0B"/>
                </a:solidFill>
                <a:latin typeface="Segoe UI"/>
              </a:rPr>
              <a:t>6.2%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324612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p = 0.012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206240"/>
            <a:ext cx="594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0B0B0B"/>
                </a:solidFill>
                <a:latin typeface="Segoe UI"/>
              </a:rPr>
              <a:t>Without link-state awareness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420624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0B0B0B"/>
                </a:solidFill>
                <a:latin typeface="Segoe UI"/>
              </a:rPr>
              <a:t>5.9%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420624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2514E"/>
                </a:solidFill>
                <a:latin typeface="Segoe UI"/>
              </a:rPr>
              <a:t>p = 0.037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286000"/>
            <a:ext cx="9631375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400" b="1">
                <a:solidFill>
                  <a:srgbClr val="104680"/>
                </a:solidFill>
                <a:latin typeface="Segoe UI"/>
              </a:rPr>
              <a:t>The routing layer was
never the bottleneck.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4206240"/>
            <a:ext cx="83512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2514E"/>
                </a:solidFill>
                <a:latin typeface="Segoe UI"/>
              </a:rPr>
              <a:t>We improved it, and unsafe outcomes still occur at high confidence.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What we are not claiming.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0020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EB6834"/>
                </a:solidFill>
                <a:latin typeface="Segoe UI"/>
              </a:rPr>
              <a:t>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84831"/>
            <a:ext cx="914400" cy="508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423160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Degradation is synthetic.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355848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One task family: satellite chips.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288536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Outcomes from a cost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221224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Thresholds fixed and trace-tuned.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60020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104680"/>
                </a:solidFill>
                <a:latin typeface="Segoe UI"/>
              </a:rPr>
              <a:t>Where this goes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10528" y="2084831"/>
            <a:ext cx="914400" cy="50800"/>
          </a:xfrm>
          <a:prstGeom prst="rect">
            <a:avLst/>
          </a:prstGeom>
          <a:solidFill>
            <a:srgbClr val="10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423160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Calibration first: conformal, OOD.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355848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Adaptive thresholds via bandits.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288536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Peer-aware forwarding.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5221224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Real traces, hardware-in-the-loop.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Three things to take away.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A78D6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8" y="1764792"/>
            <a:ext cx="100519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0B0B0B"/>
                </a:solidFill>
                <a:latin typeface="Segoe UI"/>
              </a:rPr>
              <a:t>Fallback deserves to be a routing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2304288"/>
            <a:ext cx="100519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52514E"/>
                </a:solidFill>
                <a:latin typeface="Segoe UI"/>
              </a:rPr>
              <a:t>Under degraded links it cuts unsafe outcomes from 6.8% to 4.8% and saves 40 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15468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A78D6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8" y="3182112"/>
            <a:ext cx="100519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0B0B0B"/>
                </a:solidFill>
                <a:latin typeface="Segoe UI"/>
              </a:rPr>
              <a:t>Confidence thresholds break exactly when needed.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3721608"/>
            <a:ext cx="100519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52514E"/>
                </a:solidFill>
                <a:latin typeface="Segoe UI"/>
              </a:rPr>
              <a:t>Accuracy falls 13.8 points while confidence rises, and 90% of errors clear the gate.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57200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A78D6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4599432"/>
            <a:ext cx="100519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0B0B0B"/>
                </a:solidFill>
                <a:latin typeface="Segoe UI"/>
              </a:rPr>
              <a:t>Calibration is the reliability bottleneck.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8" y="5138928"/>
            <a:ext cx="100519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52514E"/>
                </a:solidFill>
                <a:latin typeface="Segoe UI"/>
              </a:rPr>
              <a:t>Ahead of routing or scheduling. Safe autonomy at sea depends on knowing what the model does not know.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3"/>
          <a:srcRect t="9640" b="964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120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377440"/>
            <a:ext cx="1087495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Segoe UI"/>
              </a:rPr>
              <a:t>Thank you. 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611880"/>
            <a:ext cx="1463040" cy="635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023360"/>
            <a:ext cx="1087495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Anthony Uchenna Eneh
</a:t>
            </a:r>
            <a:r>
              <a:rPr sz="1800" b="0">
                <a:solidFill>
                  <a:srgbClr val="D8E4F2"/>
                </a:solidFill>
                <a:latin typeface="Segoe UI"/>
              </a:rPr>
              <a:t>anthony@kumoh.ac.kr
Kumoh National Institute of Technology, Gumi, South Korea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926080"/>
            <a:ext cx="96313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898781"/>
                </a:solidFill>
                <a:latin typeface="Segoe UI"/>
              </a:rPr>
              <a:t>Backup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Backup: full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04680"/>
                </a:solidFill>
                <a:latin typeface="Segoe UI"/>
              </a:rPr>
              <a:t>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58768" y="14173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04680"/>
                </a:solidFill>
                <a:latin typeface="Segoe UI"/>
              </a:rPr>
              <a:t>Regime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79008" y="14173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04680"/>
                </a:solidFill>
                <a:latin typeface="Segoe UI"/>
              </a:rPr>
              <a:t>Latency (ms)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3568" y="14173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04680"/>
                </a:solidFill>
                <a:latin typeface="Segoe UI"/>
              </a:rPr>
              <a:t>Unsafe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19488" y="14173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04680"/>
                </a:solidFill>
                <a:latin typeface="Segoe UI"/>
              </a:rPr>
              <a:t>Energy (J)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737360"/>
            <a:ext cx="10509199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84708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Always 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184708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9008" y="184708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49.3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184708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6.7%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19488" y="184708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0.50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16255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Always offload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216255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Stable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9008" y="216255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33.4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216255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1.7%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9488" y="216255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0.60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47802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Confidence threshold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8768" y="247802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Stable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9008" y="247802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46.5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247802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3.4%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9488" y="247802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0.53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279349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Load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8768" y="279349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Stable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79008" y="279349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48.2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279349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6.4%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9488" y="279349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0.51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072384"/>
            <a:ext cx="10874959" cy="329184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31089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CONFROUTE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58768" y="31089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Stable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79008" y="31089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33.5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8" y="31089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1.5%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19488" y="31089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0.60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342442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Always local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8768" y="342442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Intermittent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79008" y="342442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49.4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73568" y="342442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5.8%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19488" y="342442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0.50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373989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Always offload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58768" y="373989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Intermittent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79008" y="373989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71.6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73568" y="373989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4.3%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19488" y="373989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0.59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" y="405536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Confidence threshold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58768" y="405536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Intermittent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79008" y="405536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59.6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73568" y="405536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4.9%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19488" y="405536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0.53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" y="437083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Load only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58768" y="437083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Intermittent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79008" y="437083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67.0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73568" y="437083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3.8%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19488" y="437083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0.58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649724"/>
            <a:ext cx="10874959" cy="329184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" y="46863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CONFROUTE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58768" y="46863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Intermittent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79008" y="46863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61.6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73568" y="46863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4.4%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19488" y="46863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0.56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1248" y="500176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Always local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58768" y="500176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Degraded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79008" y="500176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49.3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73568" y="500176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7.3%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19488" y="500176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0.50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1248" y="531723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Always offload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58768" y="531723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Degraded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79008" y="531723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98.2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73568" y="531723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6.8%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19488" y="531723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0.56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1248" y="563270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Confidence threshold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58768" y="563270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Degraded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79008" y="563270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78.9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73568" y="563270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7.0%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19488" y="563270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0.55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8" y="59481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Load only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58768" y="59481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Degraded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79008" y="59481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91.8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73568" y="59481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7.2%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19488" y="59481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Segoe UI"/>
              </a:rPr>
              <a:t>0.56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58368" y="6227064"/>
            <a:ext cx="10874959" cy="329184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1248" y="62636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CONFROUTE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58768" y="62636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Degraded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79008" y="62636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58.5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973568" y="62636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4.8%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19488" y="62636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0.50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Backup: confidence traces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10874959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2200" b="1">
                <a:solidFill>
                  <a:srgbClr val="0B0B0B"/>
                </a:solidFill>
                <a:latin typeface="Segoe UI"/>
              </a:rPr>
              <a:t>Nominal</a:t>
            </a:r>
            <a:r>
              <a:rPr sz="2000" b="0">
                <a:solidFill>
                  <a:srgbClr val="52514E"/>
                </a:solidFill>
                <a:latin typeface="Segoe UI"/>
              </a:rPr>
              <a:t>      500 samples      88.8% accuracy      mean confidence 0.810      std 0.140
</a:t>
            </a:r>
            <a:r>
              <a:rPr sz="2200" b="1">
                <a:solidFill>
                  <a:srgbClr val="0B0B0B"/>
                </a:solidFill>
                <a:latin typeface="Segoe UI"/>
              </a:rPr>
              <a:t>Adverse</a:t>
            </a:r>
            <a:r>
              <a:rPr sz="2000" b="0">
                <a:solidFill>
                  <a:srgbClr val="52514E"/>
                </a:solidFill>
                <a:latin typeface="Segoe UI"/>
              </a:rPr>
              <a:t>      500 samples      75.0% accuracy      mean confidence 0.842      std 0.085
</a:t>
            </a:r>
            <a:r>
              <a:rPr sz="1700" b="0">
                <a:solidFill>
                  <a:srgbClr val="52514E"/>
                </a:solidFill>
                <a:latin typeface="Segoe UI"/>
              </a:rPr>
              <a:t>The adverse transform is deterministic: reduced contrast and brightness, Gaussian blur, haze blending, sensor-like noise.
Note the narrowing standard deviation: the model is not just wrong, it is uniformly confident.
</a:t>
            </a:r>
            <a:r>
              <a:rPr sz="1700" b="1">
                <a:solidFill>
                  <a:srgbClr val="104680"/>
                </a:solidFill>
                <a:latin typeface="Segoe UI"/>
              </a:rPr>
              <a:t>Mean confidence on incorrect predictions: 0.651 nominal, 0.782 adverse.
Errors above the 0.65 threshold: 22 of 56 nominal, 113 of 125 adverse.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Image 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Photographs from Wikimedia Commons, reused under the licence shown.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Aerial container ship (title, closing)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38928" y="1828800"/>
            <a:ext cx="6394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Wilfredor, CC BY-SA 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Vessel in haze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38928" y="2395728"/>
            <a:ext cx="6394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Cavernia, CC BY-SA 4.0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9626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Bulk carrier in heavy seas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8928" y="2962656"/>
            <a:ext cx="6394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Web107 / Georgfotoart, CC BY-SA 3.0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52958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Shipborne radomes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3529584"/>
            <a:ext cx="6394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High Contrast, CC BY 3.0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09651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Frigate radar masts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4096512"/>
            <a:ext cx="6394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Ein Dahmer, CC BY-SA 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983480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Satellite imagery and 80 × 80 chips</a:t>
            </a:r>
            <a:r>
              <a:rPr sz="1600" b="0">
                <a:solidFill>
                  <a:srgbClr val="52514E"/>
                </a:solidFill>
                <a:latin typeface="Segoe UI"/>
              </a:rPr>
              <a:t>: Ships in Satellite Imagery (ShipsNet), Planet Labs / Kaggle, CC BY-SA 4.0.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